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92441-1E44-8D8D-F7F5-A87A7CDAF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D008B-EEA5-1C7C-F5AC-CA827F42E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21F5C-621B-14DB-1285-BC94A863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486FA-48F2-4956-B7FC-C1EB6026479F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C54C3-FB92-E4A6-2468-1670330B1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197DE-24F6-3337-348C-9BD8A8B35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9B09-54C3-41F2-A589-54450F0F3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986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640E2-EA8F-2834-1C08-9BF403689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571DD-FF77-EC87-6200-230F7075F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32268-4AFF-1964-F609-ED202738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486FA-48F2-4956-B7FC-C1EB6026479F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9298F-864D-9B2B-CBC5-F725E932F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46D72-A419-C9CA-720B-D417A2CE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9B09-54C3-41F2-A589-54450F0F3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333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15D56-98CF-BF40-3DE7-1271D158F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47A67-55CE-E2D9-8DA8-9EE56B9B2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80855-2BD9-F17C-C72D-9B0773140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486FA-48F2-4956-B7FC-C1EB6026479F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24FAC-062A-CEB7-8F9F-5E80B0B8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DF436-6E6F-5412-9285-EE1902741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9B09-54C3-41F2-A589-54450F0F3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15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2BB1-D478-46BA-5851-1336BF496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1106D-DE94-A7CB-9A1D-BDD25CF36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104520-FA92-4488-543C-201A7E9C9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C6521-4F9D-B497-8F7E-374326E74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486FA-48F2-4956-B7FC-C1EB6026479F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FDF39-C920-06BC-9C3E-3F1CAC1AD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F76F7-5A2D-DBAE-C19B-DBC93F970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9B09-54C3-41F2-A589-54450F0F3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750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7804E-2501-7BA9-B2A3-DE4E85421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DFFFF-4240-5226-C194-4F35D2CDF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5732B-4D94-D841-4EFB-9E58F0593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947589-80D1-D202-ACD7-D4EDC370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2CA444-44EF-A7BD-4A9B-4117038952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31D3BB-5F70-7D9F-D54C-8679E69D4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486FA-48F2-4956-B7FC-C1EB6026479F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91FCD7-79AC-1A04-514A-907933CCE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D3E67-6362-F4D0-D66E-BB6A270BD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9B09-54C3-41F2-A589-54450F0F3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433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49538-8689-78AC-6839-156958FB2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EC5C50-24D7-9678-ACC6-F42DE2EFF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486FA-48F2-4956-B7FC-C1EB6026479F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7605B8-9FFC-5370-582B-DF8E0753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EE42D7-FA9F-5251-A4CD-698CE910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9B09-54C3-41F2-A589-54450F0F3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451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81FA52-8340-CE49-DCC6-1758F8F1D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486FA-48F2-4956-B7FC-C1EB6026479F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340CB9-11DF-A7E4-F08D-4A2F2D76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FE77B-683E-A36B-606D-32DFC9D54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9B09-54C3-41F2-A589-54450F0F3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742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389B3-C017-BB69-C7B0-A0F7B7DDF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B8E60-8FF9-7258-ADDC-821BE7261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45FA89-0150-74D9-D52B-C467C5775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ABF5B-39D5-3584-09F1-EA9540E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486FA-48F2-4956-B7FC-C1EB6026479F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7EE7A-F1C6-C504-D365-C695619AF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66CA1-F17B-6006-7CA6-69C04488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9B09-54C3-41F2-A589-54450F0F3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81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7B005-5E8C-D179-41BB-8D8024BE8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47AA36-B549-5405-7D34-DCB881419C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5523E-8A82-F81C-CBCF-B860E2A42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3440D-4D30-A199-1531-170AF6F56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486FA-48F2-4956-B7FC-C1EB6026479F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2CD49-3527-9E9E-1208-FF7057EB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A819F-0B6F-CE46-B658-86E8DFE4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9B09-54C3-41F2-A589-54450F0F3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649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F97F2-0448-F9C3-711A-FB11BB1E2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E47AB-603C-4BFC-4FA9-1E9FC9934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40A62-5695-517C-6D38-D5EA15DDE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486FA-48F2-4956-B7FC-C1EB6026479F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118D6-EEE6-1D89-C574-7CD8B34C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9651B-F486-AB3E-1FCA-FEF9AB93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9B09-54C3-41F2-A589-54450F0F3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240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0BCA86-6F17-7400-40ED-74BDFF6E81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F73BA-6513-0E37-15F1-2149AAA92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1670A-BAC1-8F1A-FF38-80F950C8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486FA-48F2-4956-B7FC-C1EB6026479F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62DCC-C0F6-EE54-96AD-9C9B93CE9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4184C-6A14-AD7C-DF0A-8B855884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9B09-54C3-41F2-A589-54450F0F3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746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C59B7B-FD67-A354-FB9F-CDB459B57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6A614-1BA4-1537-9828-DB55180F1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C1F48-0EB3-4FA2-0303-AD30084429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486FA-48F2-4956-B7FC-C1EB6026479F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D8774-F7B8-A3FB-15DE-ACB899788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41090-A5C0-B55E-F8D5-E4662FA1B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D9B09-54C3-41F2-A589-54450F0F3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5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43275-7021-F7AA-BFE2-C240E3736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927478"/>
            <a:ext cx="11176000" cy="769982"/>
          </a:xfrm>
        </p:spPr>
        <p:txBody>
          <a:bodyPr>
            <a:normAutofit fontScale="90000"/>
          </a:bodyPr>
          <a:lstStyle/>
          <a:p>
            <a:r>
              <a:rPr lang="en-IN" sz="3000" b="1" dirty="0">
                <a:latin typeface="+mn-lt"/>
              </a:rPr>
              <a:t>Corporate Actions Processing Simulation – Capital Markets Operations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BEE3C-D483-FA97-8DA3-D6BC0924D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6120" y="2349138"/>
            <a:ext cx="8239760" cy="76998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Portfolio valuation &amp; Security Master updates across        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          India and US markets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5B6263-C032-9082-1DFB-3C6703ECE0F5}"/>
              </a:ext>
            </a:extLst>
          </p:cNvPr>
          <p:cNvSpPr txBox="1"/>
          <p:nvPr/>
        </p:nvSpPr>
        <p:spPr>
          <a:xfrm>
            <a:off x="4396740" y="5457120"/>
            <a:ext cx="4572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350" dirty="0"/>
              <a:t>Donthula Charan Kumar • Excel (MIS Reporting) • 2025</a:t>
            </a:r>
          </a:p>
        </p:txBody>
      </p:sp>
    </p:spTree>
    <p:extLst>
      <p:ext uri="{BB962C8B-B14F-4D97-AF65-F5344CB8AC3E}">
        <p14:creationId xmlns:p14="http://schemas.microsoft.com/office/powerpoint/2010/main" val="18040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E56FD-932B-5BDD-B2EA-63175AF30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2795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Project Objective &amp; Process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1210DF-D0AB-CFC0-948C-F431EE4811EA}"/>
              </a:ext>
            </a:extLst>
          </p:cNvPr>
          <p:cNvSpPr txBox="1"/>
          <p:nvPr/>
        </p:nvSpPr>
        <p:spPr>
          <a:xfrm>
            <a:off x="1137920" y="1536174"/>
            <a:ext cx="107899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Project Objective</a:t>
            </a:r>
          </a:p>
          <a:p>
            <a:r>
              <a:rPr lang="en-US" sz="2400" dirty="0"/>
              <a:t>    • Simulate how corporate actions impact shareholding, price and total valuation</a:t>
            </a:r>
          </a:p>
          <a:p>
            <a:r>
              <a:rPr lang="en-US" sz="2400" dirty="0"/>
              <a:t>    • Understand operational workflows in capital markets back-office environments</a:t>
            </a:r>
          </a:p>
          <a:p>
            <a:endParaRPr lang="en-US" sz="2400" dirty="0"/>
          </a:p>
          <a:p>
            <a:r>
              <a:rPr lang="en-US" sz="2400" b="1" dirty="0"/>
              <a:t>Process Followed</a:t>
            </a:r>
          </a:p>
          <a:p>
            <a:r>
              <a:rPr lang="en-US" sz="2400" dirty="0"/>
              <a:t>    • Created security master of 20 global equities (India + US)</a:t>
            </a:r>
          </a:p>
          <a:p>
            <a:r>
              <a:rPr lang="en-US" sz="2400" dirty="0"/>
              <a:t>    • Generated corporate action bulletins (split, bonus, dividend, etc.)</a:t>
            </a:r>
          </a:p>
          <a:p>
            <a:r>
              <a:rPr lang="en-US" sz="2400" dirty="0"/>
              <a:t>    • Updated shares, price &amp; valuation based on the corporate action logic</a:t>
            </a:r>
          </a:p>
          <a:p>
            <a:r>
              <a:rPr lang="en-US" sz="2400" dirty="0"/>
              <a:t>    • Reconciled post-action MIS to ensure data accuracy</a:t>
            </a:r>
          </a:p>
          <a:p>
            <a:r>
              <a:rPr lang="en-US" sz="2400" dirty="0"/>
              <a:t>    • Prepared final reporting file for stakeholder visibility</a:t>
            </a:r>
          </a:p>
        </p:txBody>
      </p:sp>
    </p:spTree>
    <p:extLst>
      <p:ext uri="{BB962C8B-B14F-4D97-AF65-F5344CB8AC3E}">
        <p14:creationId xmlns:p14="http://schemas.microsoft.com/office/powerpoint/2010/main" val="1044144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DFD4A-EA8C-8BC9-48D5-ED8CA6D9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334645"/>
            <a:ext cx="10515600" cy="864235"/>
          </a:xfrm>
        </p:spPr>
        <p:txBody>
          <a:bodyPr/>
          <a:lstStyle/>
          <a:p>
            <a:pPr algn="ctr"/>
            <a:r>
              <a:rPr lang="en-IN" b="1" dirty="0"/>
              <a:t>Key Insights &amp;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2859E-004B-E316-8F05-786A3E52C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680" y="1662854"/>
            <a:ext cx="10515600" cy="199453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   • Split and bonus actions increased share count while keeping valuation constant</a:t>
            </a:r>
          </a:p>
          <a:p>
            <a:pPr marL="0" indent="0">
              <a:buNone/>
            </a:pPr>
            <a:r>
              <a:rPr lang="en-US" dirty="0"/>
              <a:t>   • Dividend created cash inflow without affecting share quantity</a:t>
            </a:r>
          </a:p>
          <a:p>
            <a:pPr marL="0" indent="0">
              <a:buNone/>
            </a:pPr>
            <a:r>
              <a:rPr lang="en-US" dirty="0"/>
              <a:t>   • Rights issue increased holdings based on investor participation</a:t>
            </a:r>
          </a:p>
          <a:p>
            <a:pPr marL="0" indent="0">
              <a:buNone/>
            </a:pPr>
            <a:r>
              <a:rPr lang="en-US" dirty="0"/>
              <a:t>   • Name change impacted only reference data (ticker and security name)</a:t>
            </a:r>
          </a:p>
          <a:p>
            <a:pPr marL="0" indent="0">
              <a:buNone/>
            </a:pPr>
            <a:r>
              <a:rPr lang="en-US" dirty="0"/>
              <a:t>   • Merger transferred Netflix valuation into JPMorgan shares</a:t>
            </a:r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B5F3D06-3D47-0DD7-C3B3-D728756EC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327667"/>
              </p:ext>
            </p:extLst>
          </p:nvPr>
        </p:nvGraphicFramePr>
        <p:xfrm>
          <a:off x="1910080" y="4097866"/>
          <a:ext cx="812799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2166443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7270408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294277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Company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Before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After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3942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HDFC Bank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₹1,62,690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₹1,64,140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7092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JPMorgan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$14,151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$22,344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467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976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199</Words>
  <Application>Microsoft Office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Corporate Actions Processing Simulation – Capital Markets Operations</vt:lpstr>
      <vt:lpstr>Project Objective &amp; Process</vt:lpstr>
      <vt:lpstr>Key Insights &amp;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Charan kumar Donthula</dc:creator>
  <cp:lastModifiedBy>Charan kumar Donthula</cp:lastModifiedBy>
  <cp:revision>1</cp:revision>
  <dcterms:created xsi:type="dcterms:W3CDTF">2025-11-28T04:20:56Z</dcterms:created>
  <dcterms:modified xsi:type="dcterms:W3CDTF">2025-11-28T04:46:19Z</dcterms:modified>
</cp:coreProperties>
</file>